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8"/>
  </p:notesMasterIdLst>
  <p:sldIdLst>
    <p:sldId id="257" r:id="rId2"/>
    <p:sldId id="258" r:id="rId3"/>
    <p:sldId id="260" r:id="rId4"/>
    <p:sldId id="261" r:id="rId5"/>
    <p:sldId id="262" r:id="rId6"/>
    <p:sldId id="263" r:id="rId7"/>
    <p:sldId id="266" r:id="rId8"/>
    <p:sldId id="264" r:id="rId9"/>
    <p:sldId id="267" r:id="rId10"/>
    <p:sldId id="268" r:id="rId11"/>
    <p:sldId id="286" r:id="rId12"/>
    <p:sldId id="287" r:id="rId13"/>
    <p:sldId id="269" r:id="rId14"/>
    <p:sldId id="270" r:id="rId15"/>
    <p:sldId id="271" r:id="rId16"/>
    <p:sldId id="288" r:id="rId17"/>
    <p:sldId id="289" r:id="rId18"/>
    <p:sldId id="272" r:id="rId19"/>
    <p:sldId id="273" r:id="rId20"/>
    <p:sldId id="274" r:id="rId21"/>
    <p:sldId id="275" r:id="rId22"/>
    <p:sldId id="276" r:id="rId23"/>
    <p:sldId id="265" r:id="rId24"/>
    <p:sldId id="290" r:id="rId25"/>
    <p:sldId id="291" r:id="rId26"/>
    <p:sldId id="292" r:id="rId27"/>
    <p:sldId id="293" r:id="rId28"/>
    <p:sldId id="294" r:id="rId29"/>
    <p:sldId id="279" r:id="rId30"/>
    <p:sldId id="280" r:id="rId31"/>
    <p:sldId id="281" r:id="rId32"/>
    <p:sldId id="295" r:id="rId33"/>
    <p:sldId id="296" r:id="rId34"/>
    <p:sldId id="277" r:id="rId35"/>
    <p:sldId id="283" r:id="rId36"/>
    <p:sldId id="284" r:id="rId3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82">
          <p15:clr>
            <a:srgbClr val="A4A3A4"/>
          </p15:clr>
        </p15:guide>
        <p15:guide id="3" pos="385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4" autoAdjust="0"/>
    <p:restoredTop sz="94682" autoAdjust="0"/>
  </p:normalViewPr>
  <p:slideViewPr>
    <p:cSldViewPr>
      <p:cViewPr varScale="1">
        <p:scale>
          <a:sx n="46" d="100"/>
          <a:sy n="46" d="100"/>
        </p:scale>
        <p:origin x="28" y="416"/>
      </p:cViewPr>
      <p:guideLst>
        <p:guide orient="horz" pos="2160"/>
        <p:guide orient="horz" pos="482"/>
        <p:guide pos="38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15AA2A0-0D4B-4534-8E94-4FE7198A8746}" type="datetimeFigureOut">
              <a:rPr lang="en-IN"/>
              <a:pPr>
                <a:defRPr/>
              </a:pPr>
              <a:t>20-09-2025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IN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04437E9-5E8B-4DE9-AE4D-9058ED5224D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589F09-5B18-4425-A622-E24D5A4D59E9}" type="slidenum">
              <a:rPr lang="en-IN" altLang="en-US" sz="1200"/>
              <a:pPr/>
              <a:t>18</a:t>
            </a:fld>
            <a:endParaRPr lang="en-I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/>
          </a:extLst>
        </p:spPr>
      </p:pic>
      <p:grpSp>
        <p:nvGrpSpPr>
          <p:cNvPr id="5" name="Group 4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1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2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4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5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8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0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3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6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8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0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2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5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6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7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39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0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1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2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4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7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8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49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2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3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6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7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8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/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0" name="Date Placeholder 3"/>
          <p:cNvSpPr>
            <a:spLocks noGrp="1"/>
          </p:cNvSpPr>
          <p:nvPr>
            <p:ph type="dt" sz="half" idx="10"/>
          </p:nvPr>
        </p:nvSpPr>
        <p:spPr>
          <a:xfrm>
            <a:off x="5800725" y="5410200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E0713-8354-44D5-920E-D192CB6D551C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8" y="5410200"/>
            <a:ext cx="384333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275" y="5410200"/>
            <a:ext cx="5794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A5C1C-0DA3-4D46-9E27-114547D167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9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EC13D-36C5-4E71-89E0-3E7EAC8D8357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98B10F-BC82-46E6-A4F4-1C342486B9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63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A211C-BE00-4FB7-980F-3C44C83B101E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15AAB-3901-4792-842F-02ECB3F1E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5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B480F-B13D-4029-9242-8D17D0B1AD82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3F9BB-6419-411B-B7A7-83B5388822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6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0CE32-E41E-412F-8D6D-E2A630883280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31722-A9BA-4540-9337-0CEC160E0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4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09A41-1E29-4347-AA59-643B1078C6AA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73576-4D8E-4B1C-8024-0DB1D8194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D6D2F-4C30-498B-8997-19606F671CD1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E65B2-FFB9-4E54-95B8-BF112F4F3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2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C9051-FEDB-4686-9030-678B1A6EDD70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5F14-7546-448A-BD69-64948BBC7E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3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defRPr lang="en-US"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5731D-CE9A-4E75-BB93-ED4A4F1CE09A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E760C-F49E-4EEB-A7EF-3F41F93DD3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buNone/>
              <a:defRPr lang="en-US"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9E59E-C667-4768-99F0-BCCBAD48A0D0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73011-1047-4136-A733-0750E991A5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5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4A00A-9F05-41DC-9A64-C46563B9DA5D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68685-55AC-4A9F-8CE7-AE9136454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22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6913" y="719138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sz="8000" dirty="0">
                <a:effectLst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6850" y="2765425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eaLnBrk="1" hangingPunct="1">
              <a:defRPr/>
            </a:pPr>
            <a:r>
              <a:rPr lang="en-US" sz="8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8FFFBC-DA91-4883-8A58-83F096A80036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AC714-D1C3-46FD-9A21-B746619B89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112D8-EE53-4BF5-BD55-E6B948BABB86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B0491-D972-429C-9260-10C642470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21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2E23D-39E4-49AC-AA43-6061654F6851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5E278-B5F8-4AD7-B721-08A9353646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buNone/>
              <a:defRPr lang="en-US" sz="18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buNone/>
              <a:defRPr lang="en-US" sz="18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>
            <a:lvl1pPr>
              <a:buNone/>
              <a:defRPr lang="en-US" sz="18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EDC7E-9326-4DA6-9F8A-69C4C54BE85F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cap="all" baseline="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2E088-D634-4827-B7FE-EA7744B804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37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18009-327D-40DB-A073-AE9294093828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4774BC-4160-49C1-B755-B2CD0D1322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33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E0831-AA2F-42DC-A9D7-14D54EEFD13E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0CCC4-EF1E-474F-874D-2B75AAF89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6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/>
          </a:extLst>
        </p:spPr>
      </p:pic>
      <p:grpSp>
        <p:nvGrpSpPr>
          <p:cNvPr id="1027" name="Group 7"/>
          <p:cNvGrpSpPr>
            <a:grpSpLocks/>
          </p:cNvGrpSpPr>
          <p:nvPr/>
        </p:nvGrpSpPr>
        <p:grpSpPr bwMode="auto">
          <a:xfrm>
            <a:off x="-14288" y="0"/>
            <a:ext cx="9042401" cy="6858000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/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/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55663" y="2249488"/>
            <a:ext cx="7429500" cy="354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763" y="58832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5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E73E779-B876-4119-B85C-74401933EAB0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5663" y="5883275"/>
            <a:ext cx="4679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5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313" y="5883275"/>
            <a:ext cx="577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5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C08349A-DD2D-4AEB-B436-B73E853C3D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3" name="Text Box 7"/>
          <p:cNvSpPr txBox="1">
            <a:spLocks noChangeArrowheads="1"/>
          </p:cNvSpPr>
          <p:nvPr userDrawn="1"/>
        </p:nvSpPr>
        <p:spPr bwMode="auto">
          <a:xfrm>
            <a:off x="0" y="0"/>
            <a:ext cx="806450" cy="21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GB" altLang="en-US" sz="800">
                <a:solidFill>
                  <a:schemeClr val="bg1"/>
                </a:solidFill>
                <a:latin typeface="Arial" panose="020B0604020202020204" pitchFamily="34" charset="0"/>
              </a:rPr>
              <a:t>Slide 3.</a:t>
            </a:r>
            <a:fld id="{315F4BAC-3BE8-4200-8748-27FDCE60F69A}" type="slidenum">
              <a:rPr lang="en-GB" altLang="en-US" sz="800">
                <a:solidFill>
                  <a:schemeClr val="bg1"/>
                </a:solidFill>
                <a:latin typeface="Arial" panose="020B0604020202020204" pitchFamily="34" charset="0"/>
              </a:rPr>
              <a:pPr algn="ctr"/>
              <a:t>‹#›</a:t>
            </a:fld>
            <a:endParaRPr lang="en-GB" altLang="en-US" sz="800">
              <a:solidFill>
                <a:schemeClr val="bg1"/>
              </a:solidFill>
              <a:latin typeface="Times" panose="02020603050405020304" pitchFamily="18" charset="0"/>
            </a:endParaRPr>
          </a:p>
        </p:txBody>
      </p:sp>
      <p:sp>
        <p:nvSpPr>
          <p:cNvPr id="1034" name="Text Box 8"/>
          <p:cNvSpPr txBox="1">
            <a:spLocks noChangeArrowheads="1"/>
          </p:cNvSpPr>
          <p:nvPr userDrawn="1"/>
        </p:nvSpPr>
        <p:spPr bwMode="auto">
          <a:xfrm>
            <a:off x="225425" y="6524625"/>
            <a:ext cx="8642350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GB" altLang="en-US" sz="800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Saunders, Lewis and Thornhill, </a:t>
            </a:r>
            <a:r>
              <a:rPr lang="en-GB" altLang="en-US" sz="800" i="1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Research Methods for Business Students</a:t>
            </a:r>
            <a:r>
              <a:rPr lang="en-GB" altLang="en-US" sz="800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, 5</a:t>
            </a:r>
            <a:r>
              <a:rPr lang="en-GB" altLang="en-US" sz="800" baseline="30000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</a:t>
            </a:r>
            <a:r>
              <a:rPr lang="en-GB" altLang="en-US" sz="800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Edition, © Mark Saunders, Philip Lewis and Adrian Thornhill 2009</a:t>
            </a:r>
            <a:r>
              <a:rPr lang="en-US" altLang="en-US" sz="800">
                <a:solidFill>
                  <a:schemeClr val="bg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en-GB" altLang="en-US" sz="800">
              <a:solidFill>
                <a:schemeClr val="bg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7" r:id="rId12"/>
    <p:sldLayoutId id="2147483692" r:id="rId13"/>
    <p:sldLayoutId id="2147483693" r:id="rId14"/>
    <p:sldLayoutId id="2147483698" r:id="rId15"/>
    <p:sldLayoutId id="2147483694" r:id="rId16"/>
    <p:sldLayoutId id="2147483695" r:id="rId17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SzPct val="125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34925"/>
            <a:ext cx="5184775" cy="4546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4400" b="1" dirty="0">
                <a:solidFill>
                  <a:srgbClr val="7030A0"/>
                </a:solidFill>
                <a:latin typeface="Arial" panose="020B0604020202020204" pitchFamily="34" charset="0"/>
              </a:rPr>
              <a:t/>
            </a:r>
            <a:br>
              <a:rPr lang="en-GB" altLang="en-US" sz="4400" b="1" dirty="0">
                <a:solidFill>
                  <a:srgbClr val="7030A0"/>
                </a:solidFill>
                <a:latin typeface="Arial" panose="020B0604020202020204" pitchFamily="34" charset="0"/>
              </a:rPr>
            </a:br>
            <a:r>
              <a:rPr lang="en-GB" altLang="en-US" sz="4400" b="1" dirty="0">
                <a:solidFill>
                  <a:srgbClr val="7030A0"/>
                </a:solidFill>
                <a:latin typeface="Arial" panose="020B0604020202020204" pitchFamily="34" charset="0"/>
              </a:rPr>
              <a:t>Critically </a:t>
            </a:r>
            <a:r>
              <a:rPr lang="en-GB" altLang="en-US" sz="4400" b="1" dirty="0" smtClean="0">
                <a:solidFill>
                  <a:srgbClr val="7030A0"/>
                </a:solidFill>
                <a:latin typeface="Arial" panose="020B0604020202020204" pitchFamily="34" charset="0"/>
              </a:rPr>
              <a:t>reviewing</a:t>
            </a:r>
            <a:br>
              <a:rPr lang="en-GB" altLang="en-US" sz="4400" b="1" dirty="0" smtClean="0">
                <a:solidFill>
                  <a:srgbClr val="7030A0"/>
                </a:solidFill>
                <a:latin typeface="Arial" panose="020B0604020202020204" pitchFamily="34" charset="0"/>
              </a:rPr>
            </a:br>
            <a:r>
              <a:rPr lang="en-GB" altLang="en-US" sz="4400" b="1" dirty="0" smtClean="0">
                <a:solidFill>
                  <a:srgbClr val="7030A0"/>
                </a:solidFill>
                <a:latin typeface="Arial" panose="020B0604020202020204" pitchFamily="34" charset="0"/>
              </a:rPr>
              <a:t>the </a:t>
            </a:r>
            <a:r>
              <a:rPr lang="en-GB" altLang="en-US" sz="4400" b="1" dirty="0">
                <a:solidFill>
                  <a:srgbClr val="7030A0"/>
                </a:solidFill>
                <a:latin typeface="Arial" panose="020B0604020202020204" pitchFamily="34" charset="0"/>
              </a:rPr>
              <a:t>literature</a:t>
            </a:r>
          </a:p>
        </p:txBody>
      </p:sp>
      <p:sp>
        <p:nvSpPr>
          <p:cNvPr id="6147" name="TextBox 1"/>
          <p:cNvSpPr txBox="1">
            <a:spLocks noChangeArrowheads="1"/>
          </p:cNvSpPr>
          <p:nvPr/>
        </p:nvSpPr>
        <p:spPr bwMode="auto">
          <a:xfrm>
            <a:off x="1692275" y="4508500"/>
            <a:ext cx="558641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N" altLang="en-US"/>
              <a:t>Pravin Kumar</a:t>
            </a:r>
          </a:p>
          <a:p>
            <a:pPr eaLnBrk="1" hangingPunct="1"/>
            <a:r>
              <a:rPr lang="en-IN" altLang="en-US"/>
              <a:t>Professor, Dept. of Mechanical Engineering</a:t>
            </a:r>
          </a:p>
          <a:p>
            <a:pPr eaLnBrk="1" hangingPunct="1"/>
            <a:r>
              <a:rPr lang="en-IN" altLang="en-US"/>
              <a:t>Delhi Tchnological University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333375"/>
            <a:ext cx="8763000" cy="1177925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Reasons for reviewing the literature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57225" y="1628775"/>
            <a:ext cx="8461375" cy="4546600"/>
          </a:xfrm>
        </p:spPr>
        <p:txBody>
          <a:bodyPr/>
          <a:lstStyle/>
          <a:p>
            <a:pPr marL="387350" indent="-387350">
              <a:lnSpc>
                <a:spcPct val="150000"/>
              </a:lnSpc>
              <a:spcBef>
                <a:spcPct val="0"/>
              </a:spcBef>
            </a:pPr>
            <a:r>
              <a:rPr lang="en-GB" altLang="en-US" sz="2800" smtClean="0">
                <a:latin typeface="Arial" panose="020B0604020202020204" pitchFamily="34" charset="0"/>
              </a:rPr>
              <a:t>To conduct a ‘preliminary’ search of existing material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</a:pPr>
            <a:r>
              <a:rPr lang="en-GB" altLang="en-US" sz="2800" smtClean="0">
                <a:latin typeface="Arial" panose="020B0604020202020204" pitchFamily="34" charset="0"/>
              </a:rPr>
              <a:t>To organise valuable ideas and findings 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</a:pPr>
            <a:r>
              <a:rPr lang="en-GB" altLang="en-US" sz="2800" smtClean="0">
                <a:latin typeface="Arial" panose="020B0604020202020204" pitchFamily="34" charset="0"/>
              </a:rPr>
              <a:t>To identify other research that may be in progress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</a:pPr>
            <a:r>
              <a:rPr lang="en-GB" altLang="en-US" sz="2800" smtClean="0">
                <a:latin typeface="Arial" panose="020B0604020202020204" pitchFamily="34" charset="0"/>
              </a:rPr>
              <a:t>To generate research ideas</a:t>
            </a:r>
          </a:p>
          <a:p>
            <a:pPr marL="387350" indent="-387350">
              <a:lnSpc>
                <a:spcPct val="150000"/>
              </a:lnSpc>
              <a:spcBef>
                <a:spcPct val="0"/>
              </a:spcBef>
            </a:pPr>
            <a:r>
              <a:rPr lang="en-GB" altLang="en-US" sz="2800" smtClean="0">
                <a:latin typeface="Arial" panose="020B0604020202020204" pitchFamily="34" charset="0"/>
              </a:rPr>
              <a:t>To develop a critical perspective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82575"/>
            <a:ext cx="77724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literature review process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51530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6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6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6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6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endParaRPr lang="en-GB" altLang="en-US" sz="1800" smtClean="0">
              <a:latin typeface="Arial" panose="020B0604020202020204" pitchFamily="34" charset="0"/>
            </a:endParaRPr>
          </a:p>
        </p:txBody>
      </p:sp>
      <p:pic>
        <p:nvPicPr>
          <p:cNvPr id="8196" name="Picture 4" descr="M03NF00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912813"/>
            <a:ext cx="4752975" cy="580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23850" y="3141663"/>
            <a:ext cx="1531938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</a:rPr>
              <a:t>Figure 1  The literature review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Critical Review (1)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052513"/>
            <a:ext cx="7772400" cy="48006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Approaches used</a:t>
            </a:r>
          </a:p>
          <a:p>
            <a:pPr marL="0" indent="0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Deductive -</a:t>
            </a:r>
          </a:p>
          <a:p>
            <a:pPr marL="0" indent="0">
              <a:buFontTx/>
              <a:buNone/>
            </a:pPr>
            <a:r>
              <a:rPr lang="en-GB" altLang="en-US" sz="2800" smtClean="0">
                <a:latin typeface="Arial" panose="020B0604020202020204" pitchFamily="34" charset="0"/>
              </a:rPr>
              <a:t>Develops a conceptual framework from the literature which is then tested using the data</a:t>
            </a:r>
          </a:p>
          <a:p>
            <a:pPr marL="0" indent="0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Inductive</a:t>
            </a:r>
            <a:r>
              <a:rPr lang="en-GB" altLang="en-US" sz="2800" b="1" smtClean="0">
                <a:latin typeface="Arial" panose="020B0604020202020204" pitchFamily="34" charset="0"/>
              </a:rPr>
              <a:t> </a:t>
            </a: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- </a:t>
            </a: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GB" altLang="en-US" sz="2800" smtClean="0">
                <a:latin typeface="Arial" panose="020B0604020202020204" pitchFamily="34" charset="0"/>
              </a:rPr>
              <a:t>Explores the data to develop theories which are then tested against the literature</a:t>
            </a:r>
            <a:endParaRPr lang="en-GB" altLang="en-US" sz="2800" b="1" smtClean="0">
              <a:latin typeface="Arial" panose="020B0604020202020204" pitchFamily="34" charset="0"/>
            </a:endParaRPr>
          </a:p>
          <a:p>
            <a:pPr marL="0" indent="0"/>
            <a:endParaRPr lang="en-GB" altLang="en-US" sz="2800" b="1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6388"/>
            <a:ext cx="7772400" cy="6096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Critical Review (2)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918450" cy="5334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Key purposes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To further refine research questions and objectives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To discover recommendations for further research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To avoid repeating work already undertaken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To provide insights into strategies and techniques appropriate to your research objectives </a:t>
            </a:r>
          </a:p>
          <a:p>
            <a:pPr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Adopting a critical perspective (1)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219200"/>
            <a:ext cx="7308850" cy="4370388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Skills for effective reading</a:t>
            </a:r>
          </a:p>
          <a:p>
            <a:pPr algn="ctr">
              <a:lnSpc>
                <a:spcPct val="90000"/>
              </a:lnSpc>
              <a:buFontTx/>
              <a:buNone/>
            </a:pPr>
            <a:endParaRPr lang="en-GB" altLang="en-US" sz="2800" b="1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Previewing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Annotating (Adding explanation or short opinion)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Summarising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Comparing and contrasting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GB" altLang="en-US" sz="2000" smtClean="0">
                <a:latin typeface="Arial" panose="020B0604020202020204" pitchFamily="34" charset="0"/>
              </a:rPr>
              <a:t>Harvard College Library (2006)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3050"/>
            <a:ext cx="7772400" cy="685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Adopting a critical perspective (2)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06413" y="1219200"/>
            <a:ext cx="7772400" cy="4762500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GB" altLang="en-US" sz="2800" b="1" dirty="0">
                <a:solidFill>
                  <a:srgbClr val="7030A0"/>
                </a:solidFill>
                <a:latin typeface="Arial" panose="020B0604020202020204" pitchFamily="34" charset="0"/>
              </a:rPr>
              <a:t>The most important skills are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GB" altLang="en-US" sz="2800" b="1" dirty="0"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The capacity to </a:t>
            </a:r>
            <a:r>
              <a:rPr lang="en-GB" alt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evaluate</a:t>
            </a:r>
            <a:r>
              <a:rPr lang="en-GB" altLang="en-US" sz="2800" b="1" dirty="0">
                <a:latin typeface="Arial" panose="020B0604020202020204" pitchFamily="34" charset="0"/>
              </a:rPr>
              <a:t> </a:t>
            </a:r>
            <a:r>
              <a:rPr lang="en-GB" altLang="en-US" sz="2800" dirty="0">
                <a:latin typeface="Arial" panose="020B0604020202020204" pitchFamily="34" charset="0"/>
              </a:rPr>
              <a:t>what you read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 smtClean="0">
                <a:latin typeface="Arial" panose="020B0604020202020204" pitchFamily="34" charset="0"/>
              </a:rPr>
              <a:t>The </a:t>
            </a:r>
            <a:r>
              <a:rPr lang="en-GB" altLang="en-US" sz="2800" dirty="0">
                <a:latin typeface="Arial" panose="020B0604020202020204" pitchFamily="34" charset="0"/>
              </a:rPr>
              <a:t>capacity to </a:t>
            </a:r>
            <a:r>
              <a:rPr lang="en-GB" altLang="en-US" sz="28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relate</a:t>
            </a:r>
            <a:r>
              <a:rPr lang="en-GB" altLang="en-US" sz="2800" dirty="0">
                <a:latin typeface="Arial" panose="020B0604020202020204" pitchFamily="34" charset="0"/>
              </a:rPr>
              <a:t> what you read to other information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algn="r" fontAlgn="auto">
              <a:spcAft>
                <a:spcPts val="0"/>
              </a:spcAft>
              <a:buFontTx/>
              <a:buNone/>
              <a:defRPr/>
            </a:pPr>
            <a:r>
              <a:rPr lang="en-GB" altLang="en-US" sz="2000" dirty="0">
                <a:latin typeface="Arial" panose="020B0604020202020204" pitchFamily="34" charset="0"/>
              </a:rPr>
              <a:t>Wallace and Wray (2006)</a:t>
            </a:r>
          </a:p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en-GB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27025"/>
            <a:ext cx="7772400" cy="5334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>
                <a:solidFill>
                  <a:srgbClr val="7030A0"/>
                </a:solidFill>
                <a:latin typeface="Arial" panose="020B0604020202020204" pitchFamily="34" charset="0"/>
              </a:rPr>
              <a:t>Adopting a critical perspective (3)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143000"/>
            <a:ext cx="7405687" cy="48006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Questions to ask yourself </a:t>
            </a: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Why am I reading this?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What is the author trying to do in writing this?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How convincing is this?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What use can I make of this reading?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GB" altLang="en-US" sz="2000" smtClean="0">
                <a:latin typeface="Arial" panose="020B0604020202020204" pitchFamily="34" charset="0"/>
              </a:rPr>
              <a:t>Adapted from  Wallace and Wray (2006)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82575"/>
            <a:ext cx="7772400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Content of the critical review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idx="1"/>
          </p:nvPr>
        </p:nvSpPr>
        <p:spPr>
          <a:xfrm>
            <a:off x="827088" y="1143000"/>
            <a:ext cx="7451725" cy="51054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You will need to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Include key academic theories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Demonstrate current knowledge of the area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Use clear referencing for the reader to find the original cited publications 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Acknowledge the research of others</a:t>
            </a:r>
          </a:p>
          <a:p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549275"/>
            <a:ext cx="7772400" cy="8382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Is your literature review critical?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76475"/>
            <a:ext cx="7772400" cy="3514725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latin typeface="Arial" panose="020B0604020202020204" pitchFamily="34" charset="0"/>
              </a:rPr>
              <a:t>Checklists Box 3.2 and Box 3.3</a:t>
            </a:r>
          </a:p>
          <a:p>
            <a:pPr algn="ctr">
              <a:buFontTx/>
              <a:buNone/>
            </a:pPr>
            <a:endParaRPr lang="en-GB" altLang="en-US" sz="2800" b="1" smtClean="0">
              <a:latin typeface="Arial" panose="020B0604020202020204" pitchFamily="34" charset="0"/>
            </a:endParaRPr>
          </a:p>
          <a:p>
            <a:pPr algn="ctr">
              <a:buFontTx/>
              <a:buNone/>
            </a:pPr>
            <a:r>
              <a:rPr lang="en-GB" altLang="en-US" sz="2800" smtClean="0">
                <a:latin typeface="Arial" panose="020B0604020202020204" pitchFamily="34" charset="0"/>
              </a:rPr>
              <a:t>Complete the checklists to evaluate your literature review</a:t>
            </a:r>
          </a:p>
          <a:p>
            <a:pPr algn="ctr"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buFontTx/>
              <a:buNone/>
            </a:pPr>
            <a:endParaRPr lang="en-GB" altLang="en-US" sz="2000" smtClean="0">
              <a:latin typeface="Arial" panose="020B0604020202020204" pitchFamily="34" charset="0"/>
            </a:endParaRPr>
          </a:p>
          <a:p>
            <a:pPr algn="r">
              <a:buFontTx/>
              <a:buNone/>
            </a:pPr>
            <a:endParaRPr lang="en-GB" altLang="en-US" sz="20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1520" y="188640"/>
            <a:ext cx="8609674" cy="64087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9512" y="188640"/>
            <a:ext cx="8784976" cy="6408712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31850" y="333375"/>
            <a:ext cx="8278813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Structure of the literature review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187450" y="1371600"/>
            <a:ext cx="7096125" cy="4114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smtClean="0">
                <a:solidFill>
                  <a:srgbClr val="7030A0"/>
                </a:solidFill>
                <a:latin typeface="Arial" panose="020B0604020202020204" pitchFamily="34" charset="0"/>
              </a:rPr>
              <a:t>Three common structures</a:t>
            </a:r>
          </a:p>
          <a:p>
            <a:pPr algn="ctr"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r>
              <a:rPr lang="en-GB" altLang="en-US" sz="2800" smtClean="0">
                <a:latin typeface="Arial" panose="020B0604020202020204" pitchFamily="34" charset="0"/>
              </a:rPr>
              <a:t>A single chapter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A series of chapters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Throughout the report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71450"/>
            <a:ext cx="7772400" cy="8382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key to a critical literature review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817563" y="1268413"/>
            <a:ext cx="7508875" cy="4572000"/>
          </a:xfrm>
        </p:spPr>
        <p:txBody>
          <a:bodyPr/>
          <a:lstStyle/>
          <a:p>
            <a:r>
              <a:rPr lang="en-GB" altLang="en-US" sz="2800" smtClean="0">
                <a:latin typeface="Arial" panose="020B0604020202020204" pitchFamily="34" charset="0"/>
              </a:rPr>
              <a:t>Demonstrate that you have read, understood and evaluated your material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Link the different ideas to form a cohesive and coherent argument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Make clear connections to your research objectives and the subsequent empirical material </a:t>
            </a:r>
          </a:p>
          <a:p>
            <a:pPr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92150"/>
            <a:ext cx="77724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Categories of Literature Sources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628775"/>
            <a:ext cx="6394450" cy="4467225"/>
          </a:xfrm>
        </p:spPr>
        <p:txBody>
          <a:bodyPr/>
          <a:lstStyle/>
          <a:p>
            <a:r>
              <a:rPr lang="en-GB" altLang="en-US" sz="2800" smtClean="0">
                <a:latin typeface="Arial" panose="020B0604020202020204" pitchFamily="34" charset="0"/>
              </a:rPr>
              <a:t>Primary (published and unpublished)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Secondary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Tertiary</a:t>
            </a:r>
          </a:p>
          <a:p>
            <a:endParaRPr lang="en-GB" altLang="en-US" sz="2800" smtClean="0">
              <a:latin typeface="Arial" panose="020B0604020202020204" pitchFamily="34" charset="0"/>
            </a:endParaRPr>
          </a:p>
          <a:p>
            <a:endParaRPr lang="en-GB" altLang="en-US" sz="2800" smtClean="0">
              <a:latin typeface="Arial" panose="020B0604020202020204" pitchFamily="34" charset="0"/>
            </a:endParaRPr>
          </a:p>
          <a:p>
            <a:endParaRPr lang="en-GB" altLang="en-US" sz="2800" smtClean="0">
              <a:latin typeface="Arial" panose="020B0604020202020204" pitchFamily="34" charset="0"/>
            </a:endParaRPr>
          </a:p>
          <a:p>
            <a:r>
              <a:rPr lang="en-GB" altLang="en-US" sz="2000" smtClean="0">
                <a:latin typeface="Arial" panose="020B0604020202020204" pitchFamily="34" charset="0"/>
              </a:rPr>
              <a:t>Detailed in Tables 3.1 and 3.2 Saunders </a:t>
            </a:r>
            <a:r>
              <a:rPr lang="en-GB" altLang="en-US" sz="2000" i="1" smtClean="0">
                <a:latin typeface="Arial" panose="020B0604020202020204" pitchFamily="34" charset="0"/>
              </a:rPr>
              <a:t>et al</a:t>
            </a:r>
            <a:r>
              <a:rPr lang="en-GB" altLang="en-US" sz="2000" smtClean="0">
                <a:latin typeface="Arial" panose="020B0604020202020204" pitchFamily="34" charset="0"/>
              </a:rPr>
              <a:t>. (2009)</a:t>
            </a:r>
          </a:p>
          <a:p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2150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15888"/>
            <a:ext cx="8848725" cy="6553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22488" y="115888"/>
            <a:ext cx="4895850" cy="66405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71450"/>
            <a:ext cx="7772400" cy="8382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Literature sources available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08050"/>
            <a:ext cx="7772400" cy="554513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GB" altLang="en-US" sz="2800" smtClean="0">
                <a:latin typeface="Arial" panose="020B0604020202020204" pitchFamily="34" charset="0"/>
              </a:rPr>
              <a:t>			</a:t>
            </a:r>
            <a:r>
              <a:rPr lang="en-GB" altLang="en-US" sz="2800" smtClean="0">
                <a:solidFill>
                  <a:srgbClr val="7030A0"/>
                </a:solidFill>
                <a:latin typeface="Arial" panose="020B0604020202020204" pitchFamily="34" charset="0"/>
              </a:rPr>
              <a:t>Literature sources available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ct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8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</p:txBody>
      </p:sp>
      <p:pic>
        <p:nvPicPr>
          <p:cNvPr id="23556" name="Picture 4" descr="M03NF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1768475"/>
            <a:ext cx="7993063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519113" y="6126163"/>
            <a:ext cx="8085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>
                <a:latin typeface="Arial" panose="020B0604020202020204" pitchFamily="34" charset="0"/>
              </a:rPr>
              <a:t>Figure 3.2  Literature sources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685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 </a:t>
            </a: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literature search strategy (1)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052513"/>
            <a:ext cx="7772400" cy="5026025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Write down</a:t>
            </a: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r>
              <a:rPr lang="en-GB" altLang="en-US" sz="2800" smtClean="0">
                <a:latin typeface="Arial" panose="020B0604020202020204" pitchFamily="34" charset="0"/>
              </a:rPr>
              <a:t>parameters of your search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key words and search terms to be used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databases and search engines to be used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criteria for selection of relevant and useful studies and discuss these with a tutor  (if possible)</a:t>
            </a:r>
          </a:p>
          <a:p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76250"/>
            <a:ext cx="7772400" cy="685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The literature search strategy (2)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628775"/>
            <a:ext cx="7921625" cy="4467225"/>
          </a:xfrm>
        </p:spPr>
        <p:txBody>
          <a:bodyPr/>
          <a:lstStyle/>
          <a:p>
            <a:r>
              <a:rPr lang="en-GB" altLang="en-US" sz="2800" smtClean="0">
                <a:latin typeface="Arial" panose="020B0604020202020204" pitchFamily="34" charset="0"/>
              </a:rPr>
              <a:t>Define the research parameters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Generate key words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Discuss your research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Brainstorm ideas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Construct Relevance trees  -  use computer software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8450"/>
            <a:ext cx="77724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>
                <a:solidFill>
                  <a:srgbClr val="7030A0"/>
                </a:solidFill>
                <a:latin typeface="Arial" panose="020B0604020202020204" pitchFamily="34" charset="0"/>
              </a:rPr>
              <a:t>Conducting a literature search (1)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597775" cy="4495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Approaches can include</a:t>
            </a: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algn="ctr"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r>
              <a:rPr lang="en-GB" altLang="en-US" sz="2800" smtClean="0">
                <a:latin typeface="Arial" panose="020B0604020202020204" pitchFamily="34" charset="0"/>
              </a:rPr>
              <a:t>Searching tertiary literature sources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Obtaining relevant literature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Scanning and browsing secondary literature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Searching using the Internet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4475"/>
            <a:ext cx="7772400" cy="6858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Conducting a literature search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371600"/>
            <a:ext cx="7775575" cy="4721225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Searching using tertiary literature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Ensure key words match controlled index language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Search appropriate printed and database sources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Note precise details used – including search strings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Note the FULL reference of each search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7813"/>
            <a:ext cx="77724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Conducting a literature search (3)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3716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Printed sources 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Databases – use of Boolean logic and free text searching (Table 3.3)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Scanning and browsing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Searching the Internet (Tables 3.4  and 3.5)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0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GB" altLang="en-US" sz="2000" smtClean="0">
                <a:latin typeface="Arial" panose="020B0604020202020204" pitchFamily="34" charset="0"/>
              </a:rPr>
              <a:t>Saunders </a:t>
            </a:r>
            <a:r>
              <a:rPr lang="en-GB" altLang="en-US" sz="2000" i="1" smtClean="0">
                <a:latin typeface="Arial" panose="020B0604020202020204" pitchFamily="34" charset="0"/>
              </a:rPr>
              <a:t>et al</a:t>
            </a:r>
            <a:r>
              <a:rPr lang="en-GB" altLang="en-US" sz="2000" smtClean="0">
                <a:latin typeface="Arial" panose="020B0604020202020204" pitchFamily="34" charset="0"/>
              </a:rPr>
              <a:t>. (2009)</a:t>
            </a:r>
          </a:p>
          <a:p>
            <a:pPr>
              <a:lnSpc>
                <a:spcPct val="90000"/>
              </a:lnSpc>
            </a:pPr>
            <a:endParaRPr lang="en-GB" altLang="en-US" sz="20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55663" y="2249488"/>
            <a:ext cx="7429500" cy="3541712"/>
          </a:xfrm>
        </p:spPr>
        <p:txBody>
          <a:bodyPr/>
          <a:lstStyle/>
          <a:p>
            <a:endParaRPr lang="en-IN" altLang="en-US" smtClean="0"/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88913"/>
            <a:ext cx="8569325" cy="646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3174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15888"/>
            <a:ext cx="8718550" cy="6626225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1650" y="1557338"/>
            <a:ext cx="8396288" cy="3667125"/>
          </a:xfrm>
        </p:spPr>
      </p:pic>
      <p:pic>
        <p:nvPicPr>
          <p:cNvPr id="3277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49275"/>
            <a:ext cx="835818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3379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476250"/>
            <a:ext cx="8866187" cy="60483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855663" y="2249488"/>
            <a:ext cx="7429500" cy="3541712"/>
          </a:xfrm>
        </p:spPr>
        <p:txBody>
          <a:bodyPr/>
          <a:lstStyle/>
          <a:p>
            <a:endParaRPr lang="en-IN" altLang="en-US" smtClean="0"/>
          </a:p>
        </p:txBody>
      </p:sp>
      <p:pic>
        <p:nvPicPr>
          <p:cNvPr id="3482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44450"/>
            <a:ext cx="7429500" cy="669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549275"/>
            <a:ext cx="7199313" cy="6096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Evaluating the literature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274763" y="1484313"/>
            <a:ext cx="5942012" cy="2922587"/>
          </a:xfrm>
        </p:spPr>
        <p:txBody>
          <a:bodyPr/>
          <a:lstStyle/>
          <a:p>
            <a:endParaRPr lang="en-GB" altLang="en-US" sz="2800" smtClean="0">
              <a:latin typeface="Arial" panose="020B0604020202020204" pitchFamily="34" charset="0"/>
            </a:endParaRPr>
          </a:p>
          <a:p>
            <a:r>
              <a:rPr lang="en-GB" altLang="en-US" sz="2800" smtClean="0">
                <a:latin typeface="Arial" panose="020B0604020202020204" pitchFamily="34" charset="0"/>
              </a:rPr>
              <a:t>Define  the scope of your review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Assess relevance and value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Assess sufficiency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315913"/>
            <a:ext cx="7415212" cy="533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Recording the literature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219200"/>
            <a:ext cx="7451725" cy="5029200"/>
          </a:xfrm>
        </p:spPr>
        <p:txBody>
          <a:bodyPr rtlCol="0">
            <a:normAutofit lnSpcReduction="10000"/>
          </a:bodyPr>
          <a:lstStyle/>
          <a:p>
            <a:pPr algn="ctr"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800" b="1" dirty="0">
                <a:solidFill>
                  <a:srgbClr val="7030A0"/>
                </a:solidFill>
                <a:latin typeface="Arial" panose="020B0604020202020204" pitchFamily="34" charset="0"/>
              </a:rPr>
              <a:t>Make notes for each item you read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Record –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Biographic details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Brief summary of content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Supplementary information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GB" altLang="en-US" sz="2000" dirty="0">
              <a:latin typeface="Arial" panose="020B0604020202020204" pitchFamily="34" charset="0"/>
            </a:endParaRPr>
          </a:p>
          <a:p>
            <a:pPr algn="r" fontAlgn="auto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GB" altLang="en-US" sz="1800" dirty="0">
                <a:latin typeface="Arial" panose="020B0604020202020204" pitchFamily="34" charset="0"/>
              </a:rPr>
              <a:t>Sharp </a:t>
            </a:r>
            <a:r>
              <a:rPr lang="en-GB" altLang="en-US" sz="1800" i="1" dirty="0">
                <a:latin typeface="Arial" panose="020B0604020202020204" pitchFamily="34" charset="0"/>
              </a:rPr>
              <a:t>et al</a:t>
            </a:r>
            <a:r>
              <a:rPr lang="en-GB" altLang="en-US" sz="1800" dirty="0">
                <a:latin typeface="Arial" panose="020B0604020202020204" pitchFamily="34" charset="0"/>
              </a:rPr>
              <a:t>.</a:t>
            </a:r>
            <a:r>
              <a:rPr lang="en-GB" altLang="en-US" sz="1800" i="1" dirty="0">
                <a:latin typeface="Arial" panose="020B0604020202020204" pitchFamily="34" charset="0"/>
              </a:rPr>
              <a:t> (2002)</a:t>
            </a:r>
            <a:endParaRPr lang="en-GB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333375"/>
            <a:ext cx="7772400" cy="685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Recording the literature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844675"/>
            <a:ext cx="6697662" cy="2663825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Bibliographic details (Table 3.6)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Brief summary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Supplementary information (Table 3.7)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863" y="1773238"/>
            <a:ext cx="8801100" cy="3887787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619125"/>
            <a:ext cx="7429500" cy="147796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IN"/>
          </a:p>
        </p:txBody>
      </p:sp>
      <p:pic>
        <p:nvPicPr>
          <p:cNvPr id="3993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60350"/>
            <a:ext cx="8496300" cy="6456363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357188"/>
            <a:ext cx="7702550" cy="4572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Plagiarism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990600"/>
            <a:ext cx="7523163" cy="54864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GB" altLang="en-US" sz="2800" b="1" smtClean="0">
                <a:solidFill>
                  <a:srgbClr val="7030A0"/>
                </a:solidFill>
                <a:latin typeface="Arial" panose="020B0604020202020204" pitchFamily="34" charset="0"/>
              </a:rPr>
              <a:t>Four common forms</a:t>
            </a:r>
            <a:endParaRPr lang="en-GB" altLang="en-US" sz="2800" smtClean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algn="ctr"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Stealing material from another source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Submitting material written by another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Copying material without quotation marks</a:t>
            </a:r>
          </a:p>
          <a:p>
            <a:pPr>
              <a:lnSpc>
                <a:spcPct val="90000"/>
              </a:lnSpc>
            </a:pPr>
            <a:r>
              <a:rPr lang="en-GB" altLang="en-US" sz="2800" smtClean="0">
                <a:latin typeface="Arial" panose="020B0604020202020204" pitchFamily="34" charset="0"/>
              </a:rPr>
              <a:t>Paraphrasing material without documentation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altLang="en-US" sz="2800" smtClean="0">
              <a:latin typeface="Arial" panose="020B0604020202020204" pitchFamily="34" charset="0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lang="en-GB" altLang="en-US" sz="2000" smtClean="0">
                <a:latin typeface="Arial" panose="020B0604020202020204" pitchFamily="34" charset="0"/>
              </a:rPr>
              <a:t>Adapted from Park (2003), Easterby-Smith </a:t>
            </a:r>
            <a:r>
              <a:rPr lang="en-GB" altLang="en-US" sz="2000" i="1" smtClean="0">
                <a:latin typeface="Arial" panose="020B0604020202020204" pitchFamily="34" charset="0"/>
              </a:rPr>
              <a:t>et al</a:t>
            </a:r>
            <a:r>
              <a:rPr lang="en-GB" altLang="en-US" sz="2000" smtClean="0">
                <a:latin typeface="Arial" panose="020B0604020202020204" pitchFamily="34" charset="0"/>
              </a:rPr>
              <a:t>.</a:t>
            </a:r>
            <a:r>
              <a:rPr lang="en-GB" altLang="en-US" sz="2000" i="1" smtClean="0">
                <a:latin typeface="Arial" panose="020B0604020202020204" pitchFamily="34" charset="0"/>
              </a:rPr>
              <a:t> </a:t>
            </a:r>
            <a:r>
              <a:rPr lang="en-GB" altLang="en-US" sz="2000" smtClean="0">
                <a:latin typeface="Arial" panose="020B0604020202020204" pitchFamily="34" charset="0"/>
              </a:rPr>
              <a:t>(2008)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4475"/>
            <a:ext cx="7772400" cy="685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Summary</a:t>
            </a:r>
            <a:r>
              <a:rPr lang="en-GB" altLang="en-US" sz="3200" b="1" dirty="0" smtClean="0">
                <a:solidFill>
                  <a:srgbClr val="7030A0"/>
                </a:solidFill>
                <a:latin typeface="Arial" panose="020B0604020202020204" pitchFamily="34" charset="0"/>
              </a:rPr>
              <a:t>:</a:t>
            </a:r>
            <a:endParaRPr lang="en-GB" altLang="en-US" sz="32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57338"/>
            <a:ext cx="8064500" cy="3848100"/>
          </a:xfrm>
        </p:spPr>
        <p:txBody>
          <a:bodyPr/>
          <a:lstStyle/>
          <a:p>
            <a:pPr algn="ctr">
              <a:buFontTx/>
              <a:buNone/>
            </a:pPr>
            <a:r>
              <a:rPr lang="en-GB" altLang="en-US" sz="2800" b="1" smtClean="0">
                <a:latin typeface="Arial" panose="020B0604020202020204" pitchFamily="34" charset="0"/>
              </a:rPr>
              <a:t>The critical literature review</a:t>
            </a:r>
          </a:p>
          <a:p>
            <a:pPr algn="ctr">
              <a:buFontTx/>
              <a:buNone/>
            </a:pPr>
            <a:endParaRPr lang="en-GB" altLang="en-US" sz="2800" b="1" smtClean="0">
              <a:latin typeface="Arial" panose="020B0604020202020204" pitchFamily="34" charset="0"/>
            </a:endParaRPr>
          </a:p>
          <a:p>
            <a:r>
              <a:rPr lang="en-GB" altLang="en-US" sz="2800" smtClean="0">
                <a:latin typeface="Arial" panose="020B0604020202020204" pitchFamily="34" charset="0"/>
              </a:rPr>
              <a:t>Sets the research in context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Leads the reader into later sections of the report</a:t>
            </a:r>
          </a:p>
          <a:p>
            <a:r>
              <a:rPr lang="en-GB" altLang="en-US" sz="2800" smtClean="0">
                <a:latin typeface="Arial" panose="020B0604020202020204" pitchFamily="34" charset="0"/>
              </a:rPr>
              <a:t>Begins at a general level and narrows to specific topics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244475"/>
            <a:ext cx="7270750" cy="6858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7030A0"/>
                </a:solidFill>
                <a:latin typeface="Arial" panose="020B0604020202020204" pitchFamily="34" charset="0"/>
              </a:rPr>
              <a:t>Summary</a:t>
            </a:r>
            <a:r>
              <a:rPr lang="en-GB" altLang="en-US" sz="3200" b="1" dirty="0" smtClean="0">
                <a:solidFill>
                  <a:srgbClr val="7030A0"/>
                </a:solidFill>
                <a:latin typeface="Arial" panose="020B0604020202020204" pitchFamily="34" charset="0"/>
              </a:rPr>
              <a:t>:</a:t>
            </a:r>
            <a:endParaRPr lang="en-GB" altLang="en-US" sz="32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447800"/>
            <a:ext cx="7296150" cy="4645025"/>
          </a:xfrm>
        </p:spPr>
        <p:txBody>
          <a:bodyPr rtlCol="0">
            <a:normAutofit lnSpcReduction="10000"/>
          </a:bodyPr>
          <a:lstStyle/>
          <a:p>
            <a:pPr algn="ctr" fontAlgn="auto">
              <a:spcAft>
                <a:spcPts val="0"/>
              </a:spcAft>
              <a:buFontTx/>
              <a:buNone/>
              <a:defRPr/>
            </a:pPr>
            <a:r>
              <a:rPr lang="en-GB" altLang="en-US" sz="2800" b="1" dirty="0">
                <a:solidFill>
                  <a:srgbClr val="7030A0"/>
                </a:solidFill>
                <a:latin typeface="Arial" panose="020B0604020202020204" pitchFamily="34" charset="0"/>
              </a:rPr>
              <a:t>A literature search requires</a:t>
            </a:r>
          </a:p>
          <a:p>
            <a:pPr algn="ctr" fontAlgn="auto">
              <a:spcAft>
                <a:spcPts val="0"/>
              </a:spcAft>
              <a:buFontTx/>
              <a:buNone/>
              <a:defRPr/>
            </a:pPr>
            <a:endParaRPr lang="en-GB" altLang="en-US" sz="2800" b="1" dirty="0"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Three main categories of sources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Clearly defined research questions and objectives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Defined parameters</a:t>
            </a:r>
          </a:p>
          <a:p>
            <a:pPr fontAlgn="auto">
              <a:spcAft>
                <a:spcPts val="0"/>
              </a:spcAft>
              <a:defRPr/>
            </a:pPr>
            <a:r>
              <a:rPr lang="en-GB" altLang="en-US" sz="2800" dirty="0">
                <a:latin typeface="Arial" panose="020B0604020202020204" pitchFamily="34" charset="0"/>
              </a:rPr>
              <a:t>Use of techniques – ( brainstorming and relevance trees)</a:t>
            </a:r>
          </a:p>
          <a:p>
            <a:pPr algn="ctr" fontAlgn="auto">
              <a:spcAft>
                <a:spcPts val="0"/>
              </a:spcAft>
              <a:buFontTx/>
              <a:buNone/>
              <a:defRPr/>
            </a:pPr>
            <a:endParaRPr lang="en-GB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459</TotalTime>
  <Words>738</Words>
  <Application>Microsoft Office PowerPoint</Application>
  <PresentationFormat>On-screen Show (4:3)</PresentationFormat>
  <Paragraphs>181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Times New Roman</vt:lpstr>
      <vt:lpstr>Arial</vt:lpstr>
      <vt:lpstr>Tw Cen MT</vt:lpstr>
      <vt:lpstr>Calibri</vt:lpstr>
      <vt:lpstr>Times</vt:lpstr>
      <vt:lpstr>Trebuchet MS</vt:lpstr>
      <vt:lpstr>Circuit</vt:lpstr>
      <vt:lpstr> Critically reviewing the literature</vt:lpstr>
      <vt:lpstr>Reasons for reviewing the literature </vt:lpstr>
      <vt:lpstr>The literature review process</vt:lpstr>
      <vt:lpstr>The Critical Review (1)</vt:lpstr>
      <vt:lpstr>The Critical Review (2)</vt:lpstr>
      <vt:lpstr>Adopting a critical perspective (1)</vt:lpstr>
      <vt:lpstr>Adopting a critical perspective (2)</vt:lpstr>
      <vt:lpstr>Adopting a critical perspective (3)</vt:lpstr>
      <vt:lpstr>Content of the critical review</vt:lpstr>
      <vt:lpstr>Is your literature review critical?</vt:lpstr>
      <vt:lpstr>PowerPoint Presentation</vt:lpstr>
      <vt:lpstr>PowerPoint Presentation</vt:lpstr>
      <vt:lpstr>Structure of the literature review</vt:lpstr>
      <vt:lpstr>The key to a critical literature review</vt:lpstr>
      <vt:lpstr>Categories of Literature Sources</vt:lpstr>
      <vt:lpstr>PowerPoint Presentation</vt:lpstr>
      <vt:lpstr>PowerPoint Presentation</vt:lpstr>
      <vt:lpstr>Literature sources available</vt:lpstr>
      <vt:lpstr> The literature search strategy (1)</vt:lpstr>
      <vt:lpstr>The literature search strategy (2)</vt:lpstr>
      <vt:lpstr>Conducting a literature search (1)</vt:lpstr>
      <vt:lpstr>Conducting a literature search (2)</vt:lpstr>
      <vt:lpstr>Conducting a literature search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the literature</vt:lpstr>
      <vt:lpstr>Recording the literature</vt:lpstr>
      <vt:lpstr>Recording the literature</vt:lpstr>
      <vt:lpstr>PowerPoint Presentation</vt:lpstr>
      <vt:lpstr>PowerPoint Presentation</vt:lpstr>
      <vt:lpstr>Plagiarism</vt:lpstr>
      <vt:lpstr>Summary:</vt:lpstr>
      <vt:lpstr>Summary:</vt:lpstr>
    </vt:vector>
  </TitlesOfParts>
  <Company>Home 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Sheila Ryan</dc:creator>
  <cp:lastModifiedBy>ASUS</cp:lastModifiedBy>
  <cp:revision>85</cp:revision>
  <dcterms:created xsi:type="dcterms:W3CDTF">2009-02-27T18:19:59Z</dcterms:created>
  <dcterms:modified xsi:type="dcterms:W3CDTF">2025-09-20T04:28:12Z</dcterms:modified>
</cp:coreProperties>
</file>