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73" r:id="rId3"/>
    <p:sldId id="274" r:id="rId4"/>
    <p:sldId id="257" r:id="rId5"/>
    <p:sldId id="272" r:id="rId6"/>
    <p:sldId id="258" r:id="rId7"/>
    <p:sldId id="259" r:id="rId8"/>
    <p:sldId id="260" r:id="rId9"/>
    <p:sldId id="261" r:id="rId10"/>
    <p:sldId id="270" r:id="rId11"/>
    <p:sldId id="271" r:id="rId12"/>
    <p:sldId id="265" r:id="rId13"/>
    <p:sldId id="262" r:id="rId14"/>
    <p:sldId id="269" r:id="rId15"/>
    <p:sldId id="266" r:id="rId16"/>
    <p:sldId id="268" r:id="rId17"/>
    <p:sldId id="267" r:id="rId18"/>
    <p:sldId id="263" r:id="rId19"/>
    <p:sldId id="26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68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67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921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265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223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9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817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93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21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030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499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653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136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035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447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893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2304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110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A1586D3-9CC7-47BB-B034-A875A0EA5116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FAB21B9-1B6C-45A8-808D-FA7F2A7FD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3884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98523" y="1264478"/>
            <a:ext cx="5398295" cy="1816098"/>
          </a:xfrm>
        </p:spPr>
        <p:txBody>
          <a:bodyPr/>
          <a:lstStyle/>
          <a:p>
            <a:r>
              <a:rPr lang="en-IN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Report Writing</a:t>
            </a:r>
            <a:endParaRPr lang="en-IN" b="1" dirty="0">
              <a:solidFill>
                <a:schemeClr val="bg2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0848" y="4146550"/>
            <a:ext cx="6185969" cy="1481483"/>
          </a:xfrm>
        </p:spPr>
        <p:txBody>
          <a:bodyPr>
            <a:noAutofit/>
          </a:bodyPr>
          <a:lstStyle/>
          <a:p>
            <a:r>
              <a:rPr lang="en-IN" sz="1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Pravin Kumar</a:t>
            </a:r>
          </a:p>
          <a:p>
            <a:r>
              <a:rPr lang="en-IN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Professor, Dept. of Mechanical Engineering</a:t>
            </a:r>
          </a:p>
          <a:p>
            <a:r>
              <a:rPr lang="en-IN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Delhi Technological University</a:t>
            </a:r>
          </a:p>
        </p:txBody>
      </p:sp>
    </p:spTree>
    <p:extLst>
      <p:ext uri="{BB962C8B-B14F-4D97-AF65-F5344CB8AC3E}">
        <p14:creationId xmlns:p14="http://schemas.microsoft.com/office/powerpoint/2010/main" val="585149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443" y="202097"/>
            <a:ext cx="7772400" cy="573156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CONVENTIONS OF ACADEMIC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652" y="692797"/>
            <a:ext cx="8458200" cy="6014645"/>
          </a:xfrm>
        </p:spPr>
        <p:txBody>
          <a:bodyPr>
            <a:noAutofit/>
          </a:bodyPr>
          <a:lstStyle/>
          <a:p>
            <a:pPr marL="0">
              <a:spcAft>
                <a:spcPts val="0"/>
              </a:spcAft>
            </a:pP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Person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and voice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•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Written as objectively as possible</a:t>
            </a:r>
          </a:p>
          <a:p>
            <a:pPr marL="625475" indent="-177800">
              <a:spcAft>
                <a:spcPts val="0"/>
              </a:spcAft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Typically use third-person pronouns (appears less subjective)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	Qualitative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research is exception to this rule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•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Active voice is more appropriate than passive voice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* Tense</a:t>
            </a:r>
          </a:p>
          <a:p>
            <a:pPr marL="715963" indent="-268288">
              <a:spcAft>
                <a:spcPts val="0"/>
              </a:spcAft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Typically written in past tense (study has already been conducted)</a:t>
            </a:r>
          </a:p>
          <a:p>
            <a:pPr marL="715963" indent="-268288">
              <a:spcAft>
                <a:spcPts val="0"/>
              </a:spcAft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Some sections (description of current situation or problem; recommendations)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written in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present tense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• Tentative vs. definitive statements</a:t>
            </a:r>
          </a:p>
          <a:p>
            <a:pPr marL="715963" indent="-268288">
              <a:spcAft>
                <a:spcPts val="0"/>
              </a:spcAft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State definitively—methodological aspects of study; results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•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State tentatively—conclusions; implications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809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895004" cy="75597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478" y="591563"/>
            <a:ext cx="8557591" cy="62664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Clarity</a:t>
            </a:r>
          </a:p>
          <a:p>
            <a:pPr marL="0" indent="0"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•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Crucial aspect—should be written clearly enough for another person to read and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 duplicate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methodological steps</a:t>
            </a:r>
          </a:p>
          <a:p>
            <a:pPr marL="0" indent="0"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•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Use few words, simple terminology (when feasible)</a:t>
            </a:r>
          </a:p>
          <a:p>
            <a:pPr marL="0" indent="0"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•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Organize report in logical format; use headings and subheadings</a:t>
            </a:r>
          </a:p>
          <a:p>
            <a:pPr marL="0" indent="0">
              <a:buNone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• Consistency</a:t>
            </a:r>
          </a:p>
          <a:p>
            <a:pPr marL="0" indent="0"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•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Be consistent throughout; use same acronyms, abbreviations, formatting</a:t>
            </a:r>
          </a:p>
          <a:p>
            <a:pPr marL="0" indent="0">
              <a:buNone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• Simplicity of language</a:t>
            </a:r>
          </a:p>
          <a:p>
            <a:pPr marL="0" indent="0"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•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Reports should be written in simple, straightforward style</a:t>
            </a:r>
          </a:p>
          <a:p>
            <a:pPr marL="0" indent="0"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•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Avoid overuse of adjectives, adverbs</a:t>
            </a:r>
          </a:p>
          <a:p>
            <a:pPr marL="0" indent="0"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•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Keep your message short and simple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16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071" y="504412"/>
            <a:ext cx="7598569" cy="10922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PRELIMINARY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1235" y="2255079"/>
            <a:ext cx="6629504" cy="3380408"/>
          </a:xfrm>
        </p:spPr>
        <p:txBody>
          <a:bodyPr>
            <a:noAutofit/>
          </a:bodyPr>
          <a:lstStyle/>
          <a:p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Title page</a:t>
            </a:r>
          </a:p>
          <a:p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  <a:p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Candidate Declaration</a:t>
            </a:r>
          </a:p>
          <a:p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Acknowledgement</a:t>
            </a:r>
          </a:p>
          <a:p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Table of Content</a:t>
            </a:r>
          </a:p>
          <a:p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List of Tables</a:t>
            </a:r>
          </a:p>
          <a:p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List of figures</a:t>
            </a:r>
          </a:p>
          <a:p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List of Abbreviation</a:t>
            </a:r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41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Titles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Initial screening mechanism for those considering reading your work</a:t>
            </a: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Should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clearly indicate what the study, report are about</a:t>
            </a: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Grab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your readers’ attention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140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225" y="241853"/>
            <a:ext cx="7772400" cy="145626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CHAPTER 1-INTRODUCTION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4216" y="1595415"/>
            <a:ext cx="7444409" cy="4616541"/>
          </a:xfrm>
        </p:spPr>
        <p:txBody>
          <a:bodyPr>
            <a:no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0" indent="0">
              <a:buNone/>
            </a:pP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1.1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Background of the study</a:t>
            </a:r>
          </a:p>
          <a:p>
            <a:pPr marL="0" indent="0">
              <a:buNone/>
            </a:pP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1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.2 Problem Statement</a:t>
            </a:r>
          </a:p>
          <a:p>
            <a:pPr marL="0" indent="0">
              <a:buNone/>
            </a:pP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1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.3 Purpose and objective of the study</a:t>
            </a:r>
          </a:p>
          <a:p>
            <a:pPr marL="0" indent="0">
              <a:buNone/>
            </a:pP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1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.4 Research Questions</a:t>
            </a:r>
          </a:p>
          <a:p>
            <a:pPr marL="0" indent="0">
              <a:buNone/>
            </a:pP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1.5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Definition of Terms</a:t>
            </a:r>
          </a:p>
          <a:p>
            <a:pPr marL="0" indent="0">
              <a:buNone/>
            </a:pP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1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.6 Significant of the study</a:t>
            </a:r>
          </a:p>
          <a:p>
            <a:pPr marL="0" indent="0">
              <a:buNone/>
            </a:pP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1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.7 Conclusion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82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582" y="341244"/>
            <a:ext cx="7772400" cy="145626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2-LITERATURE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22" y="1797511"/>
            <a:ext cx="8269356" cy="49298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2.0 Introduction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2.1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Body of the literature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	2.1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.1 General area of research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	2.1.2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Underlying theory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	2.1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.3 Variables used from previous literature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2.2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Theoretical Framework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2.3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Hypotheses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2.4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909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530" y="311427"/>
            <a:ext cx="8577469" cy="145626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3- RESEARCH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643" y="2698659"/>
            <a:ext cx="7772400" cy="36491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3.0 Introduction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3.1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Research Design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3.2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Variable and Measurement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3.3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Questionnaire design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3.4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Population and Sample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3.5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Scope of the study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3.6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Data analysis method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	3.6.1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Goodness of data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	3.6.2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Inferential analysis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3.7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38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74" y="231915"/>
            <a:ext cx="9004852" cy="523460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4- DATA ANALYSIS AND FINDINGS</a:t>
            </a:r>
            <a:endParaRPr lang="en-IN" sz="3200" b="1" dirty="0">
              <a:solidFill>
                <a:schemeClr val="bg2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5573" y="3399182"/>
            <a:ext cx="8358809" cy="9607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4.1 Introduction</a:t>
            </a:r>
          </a:p>
          <a:p>
            <a:pPr marL="0" indent="0"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4.2 Goodness of Measure</a:t>
            </a:r>
          </a:p>
          <a:p>
            <a:pPr marL="0" indent="0"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4.2.1 Representativeness of data</a:t>
            </a:r>
          </a:p>
          <a:p>
            <a:pPr marL="0" indent="0"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4.2.2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Validity test</a:t>
            </a:r>
          </a:p>
          <a:p>
            <a:pPr marL="0" indent="0"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4.2.3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Reliability test</a:t>
            </a:r>
          </a:p>
          <a:p>
            <a:pPr marL="0" indent="0"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4.3 Inferential analysis</a:t>
            </a:r>
          </a:p>
          <a:p>
            <a:pPr marL="0" indent="0"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4.3.1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Descriptive analysis</a:t>
            </a:r>
          </a:p>
          <a:p>
            <a:pPr marL="0" indent="0"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4.3.2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Test of difference</a:t>
            </a:r>
          </a:p>
          <a:p>
            <a:pPr marL="0" indent="0"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4.3.3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Test of relationship</a:t>
            </a:r>
          </a:p>
          <a:p>
            <a:pPr marL="0" indent="0"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	•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Correlation analysis</a:t>
            </a:r>
          </a:p>
          <a:p>
            <a:pPr marL="0" indent="0">
              <a:buNone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	•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Hypothesis testing</a:t>
            </a:r>
          </a:p>
          <a:p>
            <a:pPr marL="0" indent="0"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4.4 Conclusion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09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Useless table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0742" y="2141537"/>
            <a:ext cx="6091780" cy="414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73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Useful table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6404" y="241037"/>
            <a:ext cx="4351126" cy="650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824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Findings/analysis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Contains the findings in full (facts only from</a:t>
            </a:r>
          </a:p>
          <a:p>
            <a:r>
              <a:rPr lang="en-GB" sz="2800" dirty="0" smtClean="0"/>
              <a:t>Includes </a:t>
            </a:r>
            <a:r>
              <a:rPr lang="en-GB" sz="2800" dirty="0"/>
              <a:t>additional detail on the issue.</a:t>
            </a:r>
          </a:p>
          <a:p>
            <a:r>
              <a:rPr lang="en-GB" sz="2800" dirty="0" smtClean="0"/>
              <a:t>Provides </a:t>
            </a:r>
            <a:r>
              <a:rPr lang="en-GB" sz="2800" dirty="0"/>
              <a:t>financial/numerical information </a:t>
            </a:r>
            <a:r>
              <a:rPr lang="en-GB" sz="2800" dirty="0" smtClean="0"/>
              <a:t>in text </a:t>
            </a:r>
            <a:r>
              <a:rPr lang="en-GB" sz="2800" dirty="0"/>
              <a:t>and tables, if appropriate.</a:t>
            </a:r>
          </a:p>
          <a:p>
            <a:r>
              <a:rPr lang="en-GB" sz="2800" dirty="0" smtClean="0"/>
              <a:t>Some </a:t>
            </a:r>
            <a:r>
              <a:rPr lang="en-GB" sz="2800" dirty="0"/>
              <a:t>reports integrate findings </a:t>
            </a:r>
            <a:r>
              <a:rPr lang="en-GB" sz="2800" dirty="0" smtClean="0"/>
              <a:t>with analysis</a:t>
            </a:r>
            <a:r>
              <a:rPr lang="en-GB" sz="2800" dirty="0"/>
              <a:t>.</a:t>
            </a:r>
          </a:p>
          <a:p>
            <a:r>
              <a:rPr lang="en-GB" sz="2800" dirty="0" smtClean="0"/>
              <a:t>Others </a:t>
            </a:r>
            <a:r>
              <a:rPr lang="en-GB" sz="2800" dirty="0"/>
              <a:t>have a separate section for analysis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737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567530" cy="145626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5-DISCUSSION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2068"/>
            <a:ext cx="7772400" cy="4427697"/>
          </a:xfrm>
        </p:spPr>
        <p:txBody>
          <a:bodyPr>
            <a:no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5.1 Recapitulation of major findings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5.2 Discussion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5.3 Implication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5.3.1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Theoretical Implication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5.3.2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Practical Implication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5.4 Limitation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5.5 Recommendation for future research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5.6 Conclusion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16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3913" y="974034"/>
            <a:ext cx="8154321" cy="521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23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2068"/>
            <a:ext cx="8319052" cy="3649133"/>
          </a:xfrm>
        </p:spPr>
        <p:txBody>
          <a:bodyPr>
            <a:normAutofit/>
          </a:bodyPr>
          <a:lstStyle/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There statement conclusion of thesis a short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of main issue/s. </a:t>
            </a: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May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use dot points for ease of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reading.</a:t>
            </a: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parallel grammar. (Start dot point with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 verb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 the same tense.)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135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There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is a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link between recommendations and findings,</a:t>
            </a: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Findings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are factual and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verifiable.</a:t>
            </a: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Conclusions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are your own ideas that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you deduce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from the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findings.</a:t>
            </a: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Recommendations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are what you want done.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654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Recommendation(s)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252" y="2142068"/>
            <a:ext cx="7454348" cy="4000315"/>
          </a:xfrm>
        </p:spPr>
        <p:txBody>
          <a:bodyPr>
            <a:noAutofit/>
          </a:bodyPr>
          <a:lstStyle/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Suggests possible action in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future.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Provides you with the opportunity to think of creative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solutions, based on the findings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and conclusions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 the report.</a:t>
            </a: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Must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not include any new information.</a:t>
            </a: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Should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be given in order of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importance (i.e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. the most important should go first).</a:t>
            </a: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Often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uses dot points.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00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531" y="221974"/>
            <a:ext cx="7772400" cy="145626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BIBLIOGRAPHY AND</a:t>
            </a:r>
            <a:br>
              <a:rPr lang="en-IN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686" y="1678241"/>
            <a:ext cx="8418443" cy="4971037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 smtClean="0"/>
              <a:t>MLA</a:t>
            </a:r>
          </a:p>
          <a:p>
            <a:pPr marL="447675" indent="-447675">
              <a:buNone/>
            </a:pPr>
            <a:r>
              <a:rPr lang="en-GB" dirty="0"/>
              <a:t>	</a:t>
            </a:r>
            <a:r>
              <a:rPr lang="en-GB" dirty="0" smtClean="0"/>
              <a:t>Kumar</a:t>
            </a:r>
            <a:r>
              <a:rPr lang="en-GB" dirty="0"/>
              <a:t>, Pravin, Rajesh Kr Singh, and </a:t>
            </a:r>
            <a:r>
              <a:rPr lang="en-GB" dirty="0" err="1"/>
              <a:t>Vikas</a:t>
            </a:r>
            <a:r>
              <a:rPr lang="en-GB" dirty="0"/>
              <a:t> Kumar. "Managing supply chains for sustainable operations in the era of industry 4.0 and circular economy: Analysis of barriers." Resources, conservation and recycling 164 (2021): 105215.</a:t>
            </a:r>
          </a:p>
          <a:p>
            <a:r>
              <a:rPr lang="en-GB" b="1" dirty="0" smtClean="0"/>
              <a:t>APA</a:t>
            </a:r>
          </a:p>
          <a:p>
            <a:pPr marL="447675" indent="0">
              <a:buNone/>
            </a:pPr>
            <a:r>
              <a:rPr lang="en-GB" dirty="0" smtClean="0"/>
              <a:t>Kumar</a:t>
            </a:r>
            <a:r>
              <a:rPr lang="en-GB" dirty="0"/>
              <a:t>, P., Singh, R. K., &amp; Kumar, V. (2021). Managing supply chains for sustainable operations in the era of industry 4.0 and circular economy: Analysis of barriers. Resources, conservation and recycling, 164, 105215.</a:t>
            </a:r>
          </a:p>
          <a:p>
            <a:r>
              <a:rPr lang="en-GB" b="1" dirty="0" smtClean="0"/>
              <a:t>Chicago</a:t>
            </a:r>
          </a:p>
          <a:p>
            <a:pPr marL="447675" indent="0">
              <a:buNone/>
            </a:pPr>
            <a:r>
              <a:rPr lang="en-GB" dirty="0" smtClean="0"/>
              <a:t>Kumar</a:t>
            </a:r>
            <a:r>
              <a:rPr lang="en-GB" dirty="0"/>
              <a:t>, Pravin, Rajesh Kr Singh, and </a:t>
            </a:r>
            <a:r>
              <a:rPr lang="en-GB" dirty="0" err="1"/>
              <a:t>Vikas</a:t>
            </a:r>
            <a:r>
              <a:rPr lang="en-GB" dirty="0"/>
              <a:t> Kumar. "Managing supply chains for sustainable operations in the era of industry 4.0 and circular economy: Analysis of barriers." Resources, conservation and recycling 164 (2021): 105215.</a:t>
            </a:r>
          </a:p>
          <a:p>
            <a:r>
              <a:rPr lang="en-GB" b="1" dirty="0" smtClean="0"/>
              <a:t>Harvard</a:t>
            </a:r>
          </a:p>
          <a:p>
            <a:pPr marL="447675" indent="0">
              <a:buNone/>
            </a:pPr>
            <a:r>
              <a:rPr lang="en-GB" dirty="0" smtClean="0"/>
              <a:t>Kumar</a:t>
            </a:r>
            <a:r>
              <a:rPr lang="en-GB" dirty="0"/>
              <a:t>, P., Singh, R.K. and Kumar, V., 2021. Managing supply chains for sustainable operations in the era of industry 4.0 and circular economy: Analysis of barriers. Resources, conservation and recycling, 164, p.105215.</a:t>
            </a:r>
          </a:p>
          <a:p>
            <a:r>
              <a:rPr lang="en-GB" b="1" dirty="0" smtClean="0"/>
              <a:t>Vancouver</a:t>
            </a:r>
          </a:p>
          <a:p>
            <a:pPr marL="447675" indent="0">
              <a:buNone/>
            </a:pPr>
            <a:r>
              <a:rPr lang="en-GB" dirty="0" smtClean="0"/>
              <a:t>Kumar </a:t>
            </a:r>
            <a:r>
              <a:rPr lang="en-GB" dirty="0"/>
              <a:t>P, Singh RK, Kumar V. Managing supply chains for sustainable operations in the era of industry 4.0 and circular economy: Analysis of barriers. Resources, conservation and recycling. 2021 Jan 1;164:105215.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538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APPENDICES</a:t>
            </a:r>
            <a:br>
              <a:rPr lang="en-IN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200" b="1" dirty="0">
              <a:solidFill>
                <a:schemeClr val="bg2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704" y="2142068"/>
            <a:ext cx="7364896" cy="3649133"/>
          </a:xfrm>
        </p:spPr>
        <p:txBody>
          <a:bodyPr>
            <a:normAutofit/>
          </a:bodyPr>
          <a:lstStyle/>
          <a:p>
            <a:r>
              <a:rPr lang="en-IN" sz="2800" dirty="0" smtClean="0"/>
              <a:t>Derivation</a:t>
            </a:r>
          </a:p>
          <a:p>
            <a:r>
              <a:rPr lang="en-IN" sz="2800" dirty="0" smtClean="0"/>
              <a:t>Codes</a:t>
            </a:r>
          </a:p>
          <a:p>
            <a:r>
              <a:rPr lang="en-IN" sz="2800" dirty="0" smtClean="0"/>
              <a:t>SPSS Output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1085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63</TotalTime>
  <Words>294</Words>
  <Application>Microsoft Office PowerPoint</Application>
  <PresentationFormat>On-screen Show (4:3)</PresentationFormat>
  <Paragraphs>105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Celestial</vt:lpstr>
      <vt:lpstr>Research Report Writing</vt:lpstr>
      <vt:lpstr>CONVENTIONS OF ACADEMIC WRITING</vt:lpstr>
      <vt:lpstr>PowerPoint Presentation</vt:lpstr>
      <vt:lpstr>PRELIMINARY SECTION</vt:lpstr>
      <vt:lpstr>Titles</vt:lpstr>
      <vt:lpstr>CHAPTER 1-INTRODUCTION</vt:lpstr>
      <vt:lpstr>CHAPTER 2-LITERATURE REVIEW</vt:lpstr>
      <vt:lpstr>CHAPTER 3- RESEARCH METHODOLOGY</vt:lpstr>
      <vt:lpstr>CHAPTER 4- DATA ANALYSIS AND FINDINGS</vt:lpstr>
      <vt:lpstr>Useless table</vt:lpstr>
      <vt:lpstr>Useful table</vt:lpstr>
      <vt:lpstr>Findings/analysis</vt:lpstr>
      <vt:lpstr>CHAPTER 5-DISCUSSION AND CONCLUSION</vt:lpstr>
      <vt:lpstr>PowerPoint Presentation</vt:lpstr>
      <vt:lpstr>Conclusions </vt:lpstr>
      <vt:lpstr>Conclusions</vt:lpstr>
      <vt:lpstr>Recommendation(s)</vt:lpstr>
      <vt:lpstr>BIBLIOGRAPHY AND REFERENCES</vt:lpstr>
      <vt:lpstr>APPENDICES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Report Writing</dc:title>
  <dc:creator>ASUS</dc:creator>
  <cp:lastModifiedBy>ASUS</cp:lastModifiedBy>
  <cp:revision>9</cp:revision>
  <dcterms:created xsi:type="dcterms:W3CDTF">2025-09-19T03:26:29Z</dcterms:created>
  <dcterms:modified xsi:type="dcterms:W3CDTF">2025-09-20T04:28:37Z</dcterms:modified>
</cp:coreProperties>
</file>