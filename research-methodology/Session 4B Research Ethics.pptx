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D7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35226"/>
            <a:ext cx="8825658" cy="3329581"/>
          </a:xfrm>
        </p:spPr>
        <p:txBody>
          <a:bodyPr/>
          <a:lstStyle/>
          <a:p>
            <a:r>
              <a:rPr lang="en-IN" b="1" dirty="0" smtClean="0"/>
              <a:t>Research Ethics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881837"/>
          </a:xfrm>
        </p:spPr>
        <p:txBody>
          <a:bodyPr>
            <a:noAutofit/>
          </a:bodyPr>
          <a:lstStyle/>
          <a:p>
            <a:r>
              <a:rPr lang="en-IN" sz="2800" dirty="0" smtClean="0"/>
              <a:t>Pravin kumar</a:t>
            </a:r>
          </a:p>
          <a:p>
            <a:r>
              <a:rPr lang="en-IN" sz="2800" dirty="0" smtClean="0"/>
              <a:t>Professor, Dept. of Mechanical Engineering</a:t>
            </a:r>
          </a:p>
          <a:p>
            <a:r>
              <a:rPr lang="en-IN" sz="2800" dirty="0" smtClean="0"/>
              <a:t>Delhi Technological University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80661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Objectives</a:t>
            </a:r>
            <a:endParaRPr lang="en-IN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Provide overview major ethical topics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GB" sz="2800" dirty="0" smtClean="0">
                <a:solidFill>
                  <a:srgbClr val="87D7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Responsible </a:t>
            </a:r>
            <a:r>
              <a:rPr lang="en-GB" sz="2800" dirty="0">
                <a:solidFill>
                  <a:srgbClr val="87D7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 of Research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RCR)</a:t>
            </a: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Discuss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legal obligations – federal regulations</a:t>
            </a: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Raise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awareness of procedures and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guidelines designed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to support the responsible and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ethical conduct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of research at the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University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045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174422"/>
            <a:ext cx="9404723" cy="1400530"/>
          </a:xfrm>
        </p:spPr>
        <p:txBody>
          <a:bodyPr/>
          <a:lstStyle/>
          <a:p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Research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077" y="1426753"/>
            <a:ext cx="10098088" cy="4195481"/>
          </a:xfrm>
        </p:spPr>
        <p:txBody>
          <a:bodyPr>
            <a:no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Ethics may be defined as:</a:t>
            </a:r>
          </a:p>
          <a:p>
            <a:pPr marL="447675" indent="0">
              <a:buNone/>
            </a:pP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❑</a:t>
            </a:r>
            <a:r>
              <a:rPr lang="en-GB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 of moral principles or norms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that are used to guide moral choices of behaviour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and relationships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with others. (Blumberg, et al, 2005)</a:t>
            </a:r>
          </a:p>
          <a:p>
            <a:pPr marL="447675" indent="0">
              <a:buNone/>
            </a:pP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❑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 moral principles and actions guiding and shaping research. (ESRC, 2004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Ethics in research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- - The set of values, standards, and principles used to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distinguish between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appropriate and acceptable conduct and unacceptable conduct at all stages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of the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research process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927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Foundation of Shared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— Core ethical value in the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scientific pursuit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of the truth</a:t>
            </a:r>
          </a:p>
          <a:p>
            <a:r>
              <a:rPr lang="en-GB" sz="28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HONESTY</a:t>
            </a: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— Conveying information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truthfully and </a:t>
            </a:r>
            <a:r>
              <a:rPr lang="en-GB" sz="2800" dirty="0" err="1">
                <a:latin typeface="Arial" panose="020B0604020202020204" pitchFamily="34" charset="0"/>
                <a:cs typeface="Arial" panose="020B0604020202020204" pitchFamily="34" charset="0"/>
              </a:rPr>
              <a:t>honoring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commitments</a:t>
            </a:r>
          </a:p>
          <a:p>
            <a:r>
              <a:rPr lang="en-GB" sz="28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— Reporting findings precisely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and taking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care to avoid errors</a:t>
            </a:r>
          </a:p>
          <a:p>
            <a:r>
              <a:rPr lang="en-GB" sz="28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OBJECTIVITY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— Letting the facts speak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for themselves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and avoiding bias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154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Research Misconduct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1496326"/>
            <a:ext cx="10018086" cy="5043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Department of Health and Human Services defines research misconduct as: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Fabrication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– making up results and recording or reporting them.</a:t>
            </a:r>
          </a:p>
          <a:p>
            <a:r>
              <a:rPr lang="en-GB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Falsification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– manipulating research materials, equipment or processes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or changing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or omitting results such that the research is not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accurately represented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GB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Plagiarism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– appropriating someone else’s ideas, processes, results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or words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without giving proper credit.</a:t>
            </a:r>
          </a:p>
          <a:p>
            <a:pPr marL="0" indent="0">
              <a:buNone/>
            </a:pPr>
            <a:endParaRPr lang="en-GB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4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Deliberate </a:t>
            </a:r>
            <a:r>
              <a:rPr lang="en-GB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repeated non-compliance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with the regulations can be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considered misconduct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820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 Closer Look at Plagiarism</a:t>
            </a:r>
            <a:endParaRPr lang="en-IN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9740279" cy="41954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Appropriation means using or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taking something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that is not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yours</a:t>
            </a: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Plagiarism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is using another person’s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words or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ideas without proper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attribution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Plagiarism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is academically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dishonest because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faculty, scholars, and students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are expected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to do original work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225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Understanding the Definition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504" y="2182127"/>
            <a:ext cx="8946541" cy="4195481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Processes … adopting or using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research methods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described by another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investigator, especially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when the research method is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not common knowledge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Results … using or reporting data, figures,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or tables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that represent another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investigator’s research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748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Understanding the Definition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Plagiarism means taking or using any of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following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intellectual property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without permission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or giving credit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Words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… rearranging phrases, copying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 string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of consecutive words, or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paraphrasing extensively</a:t>
            </a: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Ideas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… using original information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learned from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confidential reviews,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conference presentations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28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158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Preventing 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Understand the difference between “</a:t>
            </a:r>
            <a:r>
              <a:rPr lang="en-GB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knowledge</a:t>
            </a:r>
            <a:r>
              <a:rPr lang="en-GB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and “original” ideas</a:t>
            </a:r>
          </a:p>
          <a:p>
            <a:pPr marL="0" indent="0">
              <a:buNone/>
            </a:pPr>
            <a:endParaRPr lang="en-GB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en-GB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right </a:t>
            </a:r>
            <a:r>
              <a:rPr lang="en-GB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thing</a:t>
            </a:r>
          </a:p>
          <a:p>
            <a:pPr marL="804863" indent="-357188">
              <a:buNone/>
            </a:pP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❑ Give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credit, mark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direct quotations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use reference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citations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–use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disciplinary standards!</a:t>
            </a:r>
          </a:p>
          <a:p>
            <a:pPr marL="0" indent="0">
              <a:buNone/>
            </a:pP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	❑ Follow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your conscience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21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Research Misconduct in Biomedical </a:t>
            </a:r>
            <a:r>
              <a:rPr lang="en-GB" sz="32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&amp; Social </a:t>
            </a:r>
            <a:r>
              <a:rPr lang="en-GB" sz="3200" b="1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Behavioral</a:t>
            </a:r>
            <a:r>
              <a:rPr lang="en-GB" sz="32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Research</a:t>
            </a:r>
            <a:endParaRPr lang="en-IN" sz="3200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199" y="1739348"/>
            <a:ext cx="10893218" cy="48801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dirty="0" err="1"/>
              <a:t>Behaviors</a:t>
            </a:r>
            <a:r>
              <a:rPr lang="en-GB" dirty="0"/>
              <a:t> that are considered research misconduct: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Falsifications</a:t>
            </a:r>
            <a:r>
              <a:rPr lang="en-GB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: </a:t>
            </a:r>
          </a:p>
          <a:p>
            <a:r>
              <a:rPr lang="en-GB" dirty="0" smtClean="0"/>
              <a:t>Substitutions </a:t>
            </a:r>
            <a:r>
              <a:rPr lang="en-GB" dirty="0"/>
              <a:t>of one subject’s record for another’s</a:t>
            </a:r>
          </a:p>
          <a:p>
            <a:r>
              <a:rPr lang="en-GB" dirty="0" smtClean="0"/>
              <a:t>Changing </a:t>
            </a:r>
            <a:r>
              <a:rPr lang="en-GB" dirty="0"/>
              <a:t>research record to </a:t>
            </a:r>
            <a:r>
              <a:rPr lang="en-GB" dirty="0" err="1"/>
              <a:t>favor</a:t>
            </a:r>
            <a:r>
              <a:rPr lang="en-GB" dirty="0"/>
              <a:t> the study’s hypothesis</a:t>
            </a:r>
          </a:p>
          <a:p>
            <a:r>
              <a:rPr lang="en-GB" dirty="0" smtClean="0"/>
              <a:t>Altering </a:t>
            </a:r>
            <a:r>
              <a:rPr lang="en-GB" dirty="0"/>
              <a:t>eligibility dates and eligibility test results</a:t>
            </a:r>
          </a:p>
          <a:p>
            <a:r>
              <a:rPr lang="en-GB" dirty="0" smtClean="0"/>
              <a:t>Falsifying </a:t>
            </a:r>
            <a:r>
              <a:rPr lang="en-GB" dirty="0"/>
              <a:t>dates on subject screening logs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Fabrications:</a:t>
            </a:r>
          </a:p>
          <a:p>
            <a:r>
              <a:rPr lang="en-GB" dirty="0" smtClean="0"/>
              <a:t>Not </a:t>
            </a:r>
            <a:r>
              <a:rPr lang="en-GB" dirty="0"/>
              <a:t>conducting interviews with subjects and creating records of </a:t>
            </a:r>
            <a:r>
              <a:rPr lang="en-GB" dirty="0" smtClean="0"/>
              <a:t>the interview</a:t>
            </a:r>
            <a:endParaRPr lang="en-GB" dirty="0"/>
          </a:p>
          <a:p>
            <a:r>
              <a:rPr lang="en-GB" dirty="0" smtClean="0"/>
              <a:t>Making </a:t>
            </a:r>
            <a:r>
              <a:rPr lang="en-GB" dirty="0"/>
              <a:t>up subjects visits/interviews and inserting that record into </a:t>
            </a:r>
            <a:r>
              <a:rPr lang="en-GB" dirty="0" smtClean="0"/>
              <a:t>the study </a:t>
            </a:r>
            <a:r>
              <a:rPr lang="en-GB" dirty="0"/>
              <a:t>data</a:t>
            </a:r>
          </a:p>
          <a:p>
            <a:r>
              <a:rPr lang="en-GB" dirty="0" smtClean="0"/>
              <a:t>Recording </a:t>
            </a:r>
            <a:r>
              <a:rPr lang="en-GB" dirty="0"/>
              <a:t>the results of follow-up visits/interviews with deceased subjects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64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Types of data that have been falsified or </a:t>
            </a:r>
            <a:r>
              <a:rPr lang="en-GB" sz="32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fabricated in </a:t>
            </a:r>
            <a:r>
              <a:rPr lang="en-GB" sz="32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clinical studies</a:t>
            </a:r>
            <a:endParaRPr lang="en-IN" sz="3200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8748" y="2420666"/>
            <a:ext cx="3031366" cy="41954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Interviews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Entry criteria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Screening logs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Approval forms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Follow-up exams/data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Consent forms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Test scores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77679" y="2420666"/>
            <a:ext cx="3424335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Laboratory results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Patient data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Number of subjects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Dates of procedures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Study results</a:t>
            </a:r>
            <a:b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072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Criteria for Research Misconduct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Demonstrates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 significant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departure from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accepted practices</a:t>
            </a: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Has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been committed intentionally,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or knowingly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, or recklessly; and</a:t>
            </a:r>
          </a:p>
          <a:p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Can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be proven by a preponderance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of evidence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922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NOT Misconduct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0869" y="3091070"/>
            <a:ext cx="6003235" cy="18387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1. honest, unintentional error</a:t>
            </a:r>
          </a:p>
          <a:p>
            <a:pPr marL="0" indent="0">
              <a:buNone/>
            </a:pPr>
            <a:r>
              <a:rPr lang="en-I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. honest differences of opinion</a:t>
            </a:r>
          </a:p>
        </p:txBody>
      </p:sp>
    </p:spTree>
    <p:extLst>
      <p:ext uri="{BB962C8B-B14F-4D97-AF65-F5344CB8AC3E}">
        <p14:creationId xmlns:p14="http://schemas.microsoft.com/office/powerpoint/2010/main" val="2127890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Nuremberg Code 1947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565901"/>
            <a:ext cx="10286932" cy="4993925"/>
          </a:xfrm>
        </p:spPr>
        <p:txBody>
          <a:bodyPr>
            <a:normAutofit/>
          </a:bodyPr>
          <a:lstStyle/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Voluntary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consent of the human subject is essential</a:t>
            </a:r>
          </a:p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Experiment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should yield fruitful results for the good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of society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, unprocurable by other methods or means of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study, and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not random and unnecessary in nature</a:t>
            </a:r>
          </a:p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Experiment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should be so designed on a knowledge of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problem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under study that the anticipated results will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justify the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performance of the experiment.</a:t>
            </a:r>
          </a:p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Experiment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should be so conducted as to avoid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all unnecessary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physical and mental suffering and injury</a:t>
            </a:r>
          </a:p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experiment should be conducted where there is an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priori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reason to believe that death or disabling injury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will occur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435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164483"/>
            <a:ext cx="9404723" cy="1400530"/>
          </a:xfrm>
        </p:spPr>
        <p:txBody>
          <a:bodyPr/>
          <a:lstStyle/>
          <a:p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The Belmont </a:t>
            </a:r>
            <a:r>
              <a:rPr lang="en-IN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Report 1979 (Human Protection)</a:t>
            </a:r>
            <a:endParaRPr lang="en-IN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932761"/>
            <a:ext cx="10475775" cy="46261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Respect for Persons (“Be courteous”)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Allow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informed choice where participants can choose for themselves.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Provide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additional protections for those who need it.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Derived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concepts: Informed consent, Respect for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privacy </a:t>
            </a:r>
          </a:p>
          <a:p>
            <a:pPr marL="0" indent="0">
              <a:buNone/>
            </a:pPr>
            <a:r>
              <a:rPr lang="en-GB" b="1" dirty="0" smtClean="0">
                <a:latin typeface="Arial" panose="020B0604020202020204" pitchFamily="34" charset="0"/>
                <a:cs typeface="Arial" panose="020B0604020202020204" pitchFamily="34" charset="0"/>
              </a:rPr>
              <a:t>Beneficence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(“Do good”)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are obligated to protect persons from harm by clearly identifying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and maximizing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anticipated benefits while minimizing possible risks of harm.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Derived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concepts: Good research design, Competent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investigators,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Favorable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risk/benefit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analysis. </a:t>
            </a:r>
          </a:p>
          <a:p>
            <a:pPr marL="0" indent="0">
              <a:buNone/>
            </a:pPr>
            <a:r>
              <a:rPr lang="en-GB" b="1" dirty="0" smtClean="0">
                <a:latin typeface="Arial" panose="020B0604020202020204" pitchFamily="34" charset="0"/>
                <a:cs typeface="Arial" panose="020B0604020202020204" pitchFamily="34" charset="0"/>
              </a:rPr>
              <a:t>Justice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(“Be fair.”)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Requires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that the benefits and burdens of research be distributed fairly.</a:t>
            </a: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Derived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concepts: Equitable selection of subjects.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818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The Consent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 basic elements of the consent process include:</a:t>
            </a:r>
          </a:p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⚫ full disclosure of the nature of the research and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subject’s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participation</a:t>
            </a:r>
          </a:p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⚫ adequate comprehension on the part of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potential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subjects</a:t>
            </a:r>
          </a:p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⚫ the subject’s voluntary choice to participate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033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Basic Elements of Consent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6111" y="1853248"/>
            <a:ext cx="8947150" cy="328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61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Ethics &amp; </a:t>
            </a:r>
            <a:r>
              <a:rPr lang="en-IN" sz="32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Animal Subjects Research-</a:t>
            </a:r>
            <a:r>
              <a:rPr lang="en-GB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are animals used in research?</a:t>
            </a:r>
            <a:br>
              <a:rPr lang="en-GB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200" b="1" dirty="0">
              <a:solidFill>
                <a:schemeClr val="bg2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06201" cy="4195481"/>
          </a:xfrm>
        </p:spPr>
        <p:txBody>
          <a:bodyPr>
            <a:noAutofit/>
          </a:bodyPr>
          <a:lstStyle/>
          <a:p>
            <a:pPr marL="536575" indent="-447675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●  Living organisms with complex anatomic systems may respond differently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to chemical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or biological entities than simple, single celled organisms</a:t>
            </a:r>
          </a:p>
          <a:p>
            <a:pPr marL="536575" indent="-447675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●  Current regulatory guidelines require the use of animals for testing unless there is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an approved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alternative</a:t>
            </a:r>
          </a:p>
          <a:p>
            <a:pPr marL="536575" indent="-447675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●  Some basic research can’t be done by bio-chemical experiments!</a:t>
            </a:r>
          </a:p>
          <a:p>
            <a:pPr marL="536575" indent="-447675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●  Some advanced skills can’t be taught using non-animal models/dummies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098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Non-animal alternatives must be used, when</a:t>
            </a:r>
            <a:br>
              <a:rPr lang="en-GB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2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reasonable and available</a:t>
            </a:r>
            <a:endParaRPr lang="en-IN" sz="3200" b="1" dirty="0">
              <a:solidFill>
                <a:schemeClr val="bg2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842" y="2241762"/>
            <a:ext cx="10525471" cy="4195481"/>
          </a:xfrm>
        </p:spPr>
        <p:txBody>
          <a:bodyPr>
            <a:noAutofit/>
          </a:bodyPr>
          <a:lstStyle/>
          <a:p>
            <a:pPr marL="536575" indent="-268288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●  Legislation led to organizations looking for alternatives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to animal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testing</a:t>
            </a:r>
          </a:p>
          <a:p>
            <a:pPr marL="536575" indent="-268288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●  The 1993 Revitalization Act charged the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National Institutes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of Health (NIH) with developing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research methods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that do not require animals, that reduce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number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of animals used, and that produce less pain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and distress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 animals</a:t>
            </a:r>
          </a:p>
          <a:p>
            <a:pPr marL="536575" indent="-268288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●  Interagency Coordinating Committee on the Validation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of Alternative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Methods (ICCVAM) was formed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174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Covered Species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1695110"/>
            <a:ext cx="9779547" cy="4496968"/>
          </a:xfrm>
        </p:spPr>
        <p:txBody>
          <a:bodyPr>
            <a:normAutofit/>
          </a:bodyPr>
          <a:lstStyle/>
          <a:p>
            <a:pPr marL="447675" indent="-268288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● Living or dead animal which is:</a:t>
            </a:r>
          </a:p>
          <a:p>
            <a:pPr marL="447675" indent="-268288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●  Dog, Cat, Non-human Primate, Guinea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pig, Hamster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, Rabbit, Rodents or any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other warm-blooded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animal used for, or intended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for use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 research, teaching, testing, </a:t>
            </a:r>
            <a:r>
              <a:rPr lang="en-GB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experimentation, or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exhibition, or as a pet except</a:t>
            </a:r>
          </a:p>
          <a:p>
            <a:pPr marL="0" indent="536575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 birds bred for use in research</a:t>
            </a:r>
          </a:p>
          <a:p>
            <a:pPr marL="0" indent="536575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 Cold-blooded vertebrates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598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the “3 R’s” ?</a:t>
            </a:r>
            <a:endParaRPr lang="en-IN" b="1" dirty="0">
              <a:solidFill>
                <a:schemeClr val="bg2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956" y="1416814"/>
            <a:ext cx="10724253" cy="50634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❑ Reduction:</a:t>
            </a:r>
          </a:p>
          <a:p>
            <a:pPr marL="0" indent="447675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  Reduce the number of animals used</a:t>
            </a:r>
          </a:p>
          <a:p>
            <a:pPr marL="0" indent="447675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  Use enough to make the data valid</a:t>
            </a:r>
          </a:p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❑ Refinement:</a:t>
            </a:r>
          </a:p>
          <a:p>
            <a:pPr marL="0" indent="447675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  Refine techniques and procedures to reduce pain and distress</a:t>
            </a:r>
          </a:p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❑ Replacement:</a:t>
            </a:r>
          </a:p>
          <a:p>
            <a:pPr marL="447675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  Replace animals with non-animal techniques or a lower species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305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4312" y="3166101"/>
            <a:ext cx="2311497" cy="1157421"/>
          </a:xfrm>
        </p:spPr>
        <p:txBody>
          <a:bodyPr/>
          <a:lstStyle/>
          <a:p>
            <a:r>
              <a:rPr lang="en-IN" b="1" dirty="0"/>
              <a:t>T</a:t>
            </a:r>
            <a:r>
              <a:rPr lang="en-IN" b="1" dirty="0" smtClean="0"/>
              <a:t>hanks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150380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40</TotalTime>
  <Words>1020</Words>
  <Application>Microsoft Office PowerPoint</Application>
  <PresentationFormat>Widescreen</PresentationFormat>
  <Paragraphs>113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Century Gothic</vt:lpstr>
      <vt:lpstr>Wingdings 3</vt:lpstr>
      <vt:lpstr>Ion</vt:lpstr>
      <vt:lpstr>Research Ethics</vt:lpstr>
      <vt:lpstr>Objectives</vt:lpstr>
      <vt:lpstr>Research Ethics</vt:lpstr>
      <vt:lpstr>Foundation of Shared Values</vt:lpstr>
      <vt:lpstr>Research Misconduct</vt:lpstr>
      <vt:lpstr>A Closer Look at Plagiarism</vt:lpstr>
      <vt:lpstr>Understanding the Definition (cont’d)</vt:lpstr>
      <vt:lpstr>Understanding the Definition (cont’d)</vt:lpstr>
      <vt:lpstr>Preventing Plagiarism</vt:lpstr>
      <vt:lpstr>Research Misconduct in Biomedical &amp; Social Behavioral Research</vt:lpstr>
      <vt:lpstr>Types of data that have been falsified or fabricated in clinical studies</vt:lpstr>
      <vt:lpstr>Criteria for Research Misconduct</vt:lpstr>
      <vt:lpstr>What is NOT Misconduct</vt:lpstr>
      <vt:lpstr>Nuremberg Code 1947</vt:lpstr>
      <vt:lpstr>The Belmont Report 1979 (Human Protection)</vt:lpstr>
      <vt:lpstr>The Consent Process</vt:lpstr>
      <vt:lpstr>Basic Elements of Consent</vt:lpstr>
      <vt:lpstr>Ethics &amp; Animal Subjects Research-Why are animals used in research?  </vt:lpstr>
      <vt:lpstr>Non-animal alternatives must be used, when reasonable and available</vt:lpstr>
      <vt:lpstr>Covered Species</vt:lpstr>
      <vt:lpstr>What are the “3 R’s” ?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Ethics</dc:title>
  <dc:creator>ASUS</dc:creator>
  <cp:lastModifiedBy>ASUS</cp:lastModifiedBy>
  <cp:revision>5</cp:revision>
  <dcterms:created xsi:type="dcterms:W3CDTF">2025-09-19T04:50:04Z</dcterms:created>
  <dcterms:modified xsi:type="dcterms:W3CDTF">2025-09-19T05:30:40Z</dcterms:modified>
</cp:coreProperties>
</file>